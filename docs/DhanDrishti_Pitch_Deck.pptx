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DhanDrishti = 'wealth-sight'. One line: we give rural lenders and field officers three months of cash-flow foresight per micro enterprise, with explanations in Hindi. Working prototype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size of the problem, then the operational failure: detection happens at default, not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DPI rails make the data legally and technically reachable — consent-first. Our contribution is the fusion + foresight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matters: prediction alone doesn't change outcomes; explained, actionable prediction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the running product, not a mockup. The hero pulse line is the top-risk enterprise's actual cash-flow history drawing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eye: risk dial, flags with suggested actions, then the stress chart — the pulsing red dot is the projected ₹0 crossing in week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Judges' trust: no exotic infra. Monotone constraints + calibration + conformal = the rigor story. Roadmap: temporal fusion transformers once history deepens.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Temporal holdout = last 16 weeks unseen in training. Simulated panel is the honest Round-1 posture; AA sandbox integration is the Round-2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Consent-first isn't compliance theater — AA is the reason this is deployable by public institutions without a proprietary data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Hindi line is generated by the system (templated reason codes), not marketing copy — it's in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not another fintech credit score — an early-warning public rail aligned with NABARD's institutional mandate.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success metric is not model AUC — it's intervention uptake and repayment outcomes vs control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pilot ask: one district, one RRB partner, 500 consented enterprises.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852160" cy="5852160"/>
          </a:xfrm>
          <a:prstGeom prst="ellipse">
            <a:avLst/>
          </a:prstGeom>
          <a:ln w="12700">
            <a:solidFill>
              <a:srgbClr val="3C4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280160"/>
            <a:ext cx="4023360" cy="4023360"/>
          </a:xfrm>
          <a:prstGeom prst="ellipse">
            <a:avLst/>
          </a:prstGeom>
          <a:ln w="12700">
            <a:solidFill>
              <a:srgbClr val="3C4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365760"/>
            <a:ext cx="2194560" cy="2194560"/>
          </a:xfrm>
          <a:prstGeom prst="ellipse">
            <a:avLst/>
          </a:prstGeom>
          <a:ln w="15240">
            <a:solidFill>
              <a:srgbClr val="C9961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96012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DhanDrishti</a:t>
            </a:r>
            <a:pPr indent="0" marL="0">
              <a:buNone/>
            </a:pPr>
            <a:r>
              <a:rPr lang="en-US" sz="4000" dirty="0">
                <a:solidFill>
                  <a:srgbClr val="C996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धन-दृष्टि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9436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Cash-flow foresight &amp; early-warning intelligence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E8E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rural micro enterprises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4360" y="44348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Cash Flow Prediction &amp; Risk Flagging System for Rural Micro Enterprises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5120640"/>
            <a:ext cx="5074920" cy="457200"/>
          </a:xfrm>
          <a:prstGeom prst="roundRect">
            <a:avLst>
              <a:gd name="adj" fmla="val 50000"/>
            </a:avLst>
          </a:prstGeom>
          <a:ln w="12700">
            <a:solidFill>
              <a:srgbClr val="C996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1206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HACKATHON  ·  GLOBAL FINTECH FEST 2026  ·  ROUND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included — every number in this deck is measured output.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Bharat's micro enterprises are credit-invisible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93008" cy="2377440"/>
          </a:xfrm>
          <a:prstGeom prst="roundRect">
            <a:avLst>
              <a:gd name="adj" fmla="val 3462"/>
            </a:avLst>
          </a:prstGeom>
          <a:solidFill>
            <a:srgbClr val="F1F4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6.3 crore MSMEs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formal credit access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Deloitte,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493008" cy="2377440"/>
          </a:xfrm>
          <a:prstGeom prst="roundRect">
            <a:avLst>
              <a:gd name="adj" fmla="val 3462"/>
            </a:avLst>
          </a:prstGeom>
          <a:solidFill>
            <a:srgbClr val="F1F4FA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₹25L Cr+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90288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financing gap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in rural districts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0288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rural 32% vs urban 20%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29016" y="1691640"/>
            <a:ext cx="3493008" cy="2377440"/>
          </a:xfrm>
          <a:prstGeom prst="roundRect">
            <a:avLst>
              <a:gd name="adj" fmla="val 3462"/>
            </a:avLst>
          </a:prstGeom>
          <a:solidFill>
            <a:srgbClr val="F1F4FA"/>
          </a:solidFill>
          <a:ln/>
        </p:spPr>
      </p:sp>
      <p:sp>
        <p:nvSpPr>
          <p:cNvPr id="13" name="Text 11"/>
          <p:cNvSpPr/>
          <p:nvPr/>
        </p:nvSpPr>
        <p:spPr>
          <a:xfrm>
            <a:off x="8357616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late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57616" y="27889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lenders learn of stress only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EMI is missed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57616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forward-looking tooling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52628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stores, dairy units, tailors, agri-input dealers, food processors, handloom weavers — </a:t>
            </a:r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cash-heavy, seasonal, no audited books, thin bureau files. </a:t>
            </a:r>
            <a:pPr indent="0" marL="0">
              <a:buNone/>
            </a:pPr>
            <a:r>
              <a:rPr lang="en-US" sz="1500" b="1" dirty="0">
                <a:solidFill>
                  <a:srgbClr val="1D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officers cover hundreds of accounts with no early-warning system: by the time stress is visible, the intervention window has closed.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now exists — nobody has stitched 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56232"/>
            <a:ext cx="512064" cy="512064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014" y="1968886"/>
            <a:ext cx="286756" cy="286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325880" y="21671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21.7 billion transactions a month — rural merchants included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75320" y="1828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digital revenue rhythm, counterparty mix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3026664"/>
            <a:ext cx="512064" cy="512064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4" y="3139318"/>
            <a:ext cx="286756" cy="2867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53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Aggregator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3258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lakh crore disbursed on AA rails in FY25, with user consent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275320" y="29992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bank-statement cash flows, on tap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94360" y="4197096"/>
            <a:ext cx="512064" cy="512064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4" y="4309750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1239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public data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325880" y="4507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mandi prices · eNAM · IMD rainfall · crop calendars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41696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context that drives rural cash cycles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4360" y="5440680"/>
            <a:ext cx="11002975" cy="685800"/>
          </a:xfrm>
          <a:prstGeom prst="roundRect">
            <a:avLst>
              <a:gd name="adj" fmla="val 12000"/>
            </a:avLst>
          </a:prstGeom>
          <a:solidFill>
            <a:srgbClr val="1D2A52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44068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signals have never been fused into enterprise-level cash-flow foresight for rural Bharat. That is exactly what DhanDrishti does.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outputs, one loop: foresee → flag → explain → 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1F4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93392"/>
            <a:ext cx="475488" cy="475488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209799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38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forecast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234086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net cash-flow bands (P10/P50/P90), conformally calibrated — honest uncertainty, not a point guess.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0488" y="173736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1F4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19088" y="1993392"/>
            <a:ext cx="475488" cy="475488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695" y="2097999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9168" y="1938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 + flags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059168" y="234086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0–100 score with discrete early warnings: liquidity crunch ahead, EMI stress, buyer concentration, seasonal dip…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877056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1F4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33088"/>
            <a:ext cx="475488" cy="475488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423769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78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reason codes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463040" y="44805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explained in English + Hindi from SHAP attributions: “Revenue is down ~58% vs the same season last year.”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0488" y="3877056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1F4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695" y="423769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9168" y="4078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059168" y="44805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intervention per flag: pre-approve working capital, restructure EMI post-harvest, diversify buyers.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94360" y="598932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Surfaces: offline-capable dashboard (EN/हिंदी) · scoring API for bank LOS/LMS · SMS/WhatsApp nudges (roadmap)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command deck — running, offline, bilingual</a:t>
            </a:r>
            <a:endParaRPr lang="en-US" sz="3000" dirty="0"/>
          </a:p>
        </p:txBody>
      </p:sp>
      <p:pic>
        <p:nvPicPr>
          <p:cNvPr id="4" name="Image 0" descr="C:\Users\USER\Desktop\Proj\Hackathon\NABARD Hackathon\docs\assets\ui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5852160" cy="4873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178308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141A35"/>
          </a:solidFill>
          <a:ln w="9525">
            <a:solidFill>
              <a:srgbClr val="2A33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 TICKER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40880" y="218541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HIGH/WATCH enterprise scrolls past with its top flag — click any alert to drill straight 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12280" y="320040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141A35"/>
          </a:solidFill>
          <a:ln w="9525">
            <a:solidFill>
              <a:srgbClr val="2A33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0" y="3310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RISK-RANKED WATCHLIST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40880" y="360273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enterprises, calibrated 0–100 scores, sparklines and signal chips; search, filter, sort in place.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12280" y="461772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141A35"/>
          </a:solidFill>
          <a:ln w="9525">
            <a:solidFill>
              <a:srgbClr val="2A33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0" y="4727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&amp; OFFLINE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5020056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EN/हिंदी toggle on every reason and action; zero external assets — the demo runs with the internet off.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12280" y="60533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any enterprise for the jury: localhost:8765/#ENT0178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— THE DRILL-DOWN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weeks of warning before the balance hits zero</a:t>
            </a:r>
            <a:endParaRPr lang="en-US" sz="3000" dirty="0"/>
          </a:p>
        </p:txBody>
      </p:sp>
      <p:pic>
        <p:nvPicPr>
          <p:cNvPr id="4" name="Image 0" descr="C:\Users\USER\Desktop\Proj\Hackathon\NABARD Hackathon\docs\assets\ui_drawer_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5486400" cy="46451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691640"/>
            <a:ext cx="5074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79/100 — flagged today. </a:t>
            </a:r>
            <a:pPr indent="0" marL="0">
              <a:buNone/>
            </a:pPr>
            <a:r>
              <a:rPr lang="en-US" sz="14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stress path crosses ₹0 in week 9. The field officer sees two flags, four plain-language reasons, and one concrete action: pre-approve a working-capital line now — in Hindi if she prefers. A missed EMI would have surfaced this ~2 months later.</a:t>
            </a:r>
            <a:endParaRPr lang="en-US" sz="1400" dirty="0"/>
          </a:p>
        </p:txBody>
      </p:sp>
      <p:pic>
        <p:nvPicPr>
          <p:cNvPr id="6" name="Image 1" descr="C:\Users\USER\Desktop\Proj\Hackathon\NABARD Hackathon\docs\assets\ui_stress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977640"/>
            <a:ext cx="5074920" cy="2011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Boring where it should be, clever where it counts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00784"/>
            <a:ext cx="457200" cy="457200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0136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store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60520" y="1645920"/>
            <a:ext cx="7452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weekly signals per enterprise: cash-flow trend &amp; volatility, runway, UPI share drift, buyer concentration, EMI burden, mandi &amp; rainfall context, festival calendar.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60520" y="2615184"/>
            <a:ext cx="74523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816352"/>
            <a:ext cx="457200" cy="457200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1693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61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Quantile forecaster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160520" y="2761488"/>
            <a:ext cx="7452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P10/P50/P90, direct multi-horizon (12 wk), conformalized on a temporal holdout — the 80% band actually covers 80%.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160520" y="3730752"/>
            <a:ext cx="74523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03250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877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Early-warning classifier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160520" y="3877056"/>
            <a:ext cx="7452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distress within 8 weeks. Domain monotonicity constraints (risk ↑ as runway ↓, EMI ↑, volatility ↑) + Platt calibration = smooth, defensible probabilities.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160520" y="4846320"/>
            <a:ext cx="745236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4360" y="5047488"/>
            <a:ext cx="457200" cy="457200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14807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9926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layer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160520" y="4992624"/>
            <a:ext cx="7452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→ curated bilingual reason codes. Transparent rules overlay generates flags; a noisy-OR blend guarantees the score and flags never contradict.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94360" y="617220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(LightGBM) · retrains weekly in minutes · runs on-prem at an RRB data centre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PROMISED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results on a 200-enterprise simulated panel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1F4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MAE vs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seasonal-naive baseline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69164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1F4FA"/>
          </a:solidFill>
          <a:ln/>
        </p:spPr>
      </p:sp>
      <p:sp>
        <p:nvSpPr>
          <p:cNvPr id="8" name="Text 6"/>
          <p:cNvSpPr/>
          <p:nvPr/>
        </p:nvSpPr>
        <p:spPr>
          <a:xfrm>
            <a:off x="3593592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93592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coverage after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calibration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169164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1F4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9944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AUC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(13× precision lift)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43416" y="169164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1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9226296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wks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26296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warning lead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distress</a:t>
            </a:r>
            <a:endParaRPr lang="en-US" sz="1200" dirty="0"/>
          </a:p>
        </p:txBody>
      </p:sp>
      <p:pic>
        <p:nvPicPr>
          <p:cNvPr id="16" name="Image 0" descr="C:\Users\USER\Desktop\Proj\Hackathon\NABARD Hackathon\docs\assets\fig_portfol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03320"/>
            <a:ext cx="5577840" cy="24231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20840" y="38862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top-10 alert on the demo panel corresponds to a genuine engineered distress ramp. 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synthetic-but-realistic: harvest &amp; festival seasonality, monsoon shocks, UPI adoption drift, household draws, and ground-truth distress episodes — so accuracy is measurable, honestly.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Consent-first and DPI-native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09928"/>
            <a:ext cx="457200" cy="457200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1051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Aggregator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72000" y="170992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bank/UPI statements — inflow rhythm, balances, counterparties (consented pull)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" y="2679192"/>
            <a:ext cx="457200" cy="457200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797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609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/ QR payments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572000" y="267919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revenue proxy, customer count, ticket size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4360" y="3648456"/>
            <a:ext cx="457200" cy="457200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74904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6301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SHG / JLG ledgers · Udyam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572000" y="3648456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repayment history, enterprise vintage &amp; segment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" y="4617720"/>
            <a:ext cx="457200" cy="457200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71830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5994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Agmarknet · eNAM · IMD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4572000" y="46177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prices, rainfall, crop calendar — the rural context layer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94360" y="5623560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EAF6E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77900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562356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Aadhaar numbers · no location tracking · no scraping. </a:t>
            </a:r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Pseudonymous features, logged consent artefacts, DPDP-aligned. Cold start via segment seasonality priors.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FIELD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BC sakhi can't use it, it doesn't 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1F4F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2011680"/>
            <a:ext cx="512064" cy="512064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046" y="2124334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where the network doesn't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50392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PWA, zero external assets, SMS fallback on the roadmap. Demo runs with the internet switched off.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17373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1F4F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011680"/>
            <a:ext cx="512064" cy="512064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374" y="2124334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Speaks the field officer's language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 and action in English + Hindi (extensible to Marathi, Telugu, Bangla…). Not a score — a sentence someone can act 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29016" y="17373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1F4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5048" y="2011680"/>
            <a:ext cx="512064" cy="512064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702" y="2124334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5048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what banks already have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85048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models, one server per district pilot, on-prem deployable at an RRB — no cloud dependency, no GPUs.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4360" y="4800600"/>
            <a:ext cx="11002975" cy="1234440"/>
          </a:xfrm>
          <a:prstGeom prst="roundRect">
            <a:avLst>
              <a:gd name="adj" fmla="val 6667"/>
            </a:avLst>
          </a:prstGeom>
          <a:solidFill>
            <a:srgbClr val="1D2A52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919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ALERT — AS THE FIELD OFFICER SEES IT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22960" y="5193792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Liquidity crunch ahead — stress-case balance dips below zero in 9 weeks.  →  Pre-approve a short-term working-capital line; schedule a field visit this week.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नकदी संकट की आशंका — तनाव-परिदृश्य में 9 सप्ताह में शेष राशि शून्य से नीचे जा सकती है।  →  अभी अल्पकालिक कार्यशील-पूंजी सीमा स्वीकृत करें; इसी सप्ताह क्षेत्र भ्रमण तय करें।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rail, three winners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93776" cy="493776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91" y="1800271"/>
            <a:ext cx="276515" cy="2765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Lenders (RRBs, DCCBs, MFIs)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94360" y="297180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early warning → intervene before slippage, cut micro-book NPAs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auditable basis for cash-flow-based lending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heatmaps by district &amp; segment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61688" y="1691640"/>
            <a:ext cx="493776" cy="493776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319" y="1800271"/>
            <a:ext cx="276515" cy="2765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1688" y="23317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entrepreneurs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361688" y="297180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bankable, consent-based cash-flow record — the on-ramp from moneylenders to formal credit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nudges to plan for lean seasons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priced on evidence, not absence of 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29016" y="1691640"/>
            <a:ext cx="493776" cy="493776"/>
          </a:xfrm>
          <a:prstGeom prst="ellipse">
            <a:avLst/>
          </a:prstGeom>
          <a:solidFill>
            <a:srgbClr val="1D2A5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647" y="1800271"/>
            <a:ext cx="276515" cy="2765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29016" y="23317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NABARD &amp; policy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129016" y="297180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early-warning view across the rural portfolio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 for scheme design &amp; timing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public-good scoring rail for the SHG/RRB ecosystem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working prototype to district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3127248"/>
            <a:ext cx="9997135" cy="0"/>
          </a:xfrm>
          <a:prstGeom prst="line">
            <a:avLst/>
          </a:prstGeom>
          <a:noFill/>
          <a:ln w="19050">
            <a:solidFill>
              <a:srgbClr val="D8D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80360"/>
            <a:ext cx="493776" cy="493776"/>
          </a:xfrm>
          <a:prstGeom prst="ellipse">
            <a:avLst/>
          </a:prstGeom>
          <a:solidFill>
            <a:srgbClr val="0CA30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DONE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94360" y="397764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data → models → bilingual dashboard. Measured: −25% MAE, AUC 0.83, 3-wk lead.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30752" y="2880360"/>
            <a:ext cx="493776" cy="49377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0712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JUL–AUG 2026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10712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 build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410712" y="397764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AA-sandbox integration demo, SMS nudge prototype, hardening, demo video + deployment guide.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47104" y="2880360"/>
            <a:ext cx="493776" cy="493776"/>
          </a:xfrm>
          <a:prstGeom prst="ellipse">
            <a:avLst/>
          </a:prstGeom>
          <a:solidFill>
            <a:srgbClr val="1D2A52"/>
          </a:solidFill>
          <a:ln/>
        </p:spPr>
      </p:sp>
      <p:sp>
        <p:nvSpPr>
          <p:cNvPr id="16" name="Text 14"/>
          <p:cNvSpPr/>
          <p:nvPr/>
        </p:nvSpPr>
        <p:spPr>
          <a:xfrm>
            <a:off x="6547104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27064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D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POST-GFF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27064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pilot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27064" y="397764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RRB/DCCB partner, 500–1,000 consented enterprises. Measure lead time, intervention uptake, repayment outcomes vs control.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63456" y="2880360"/>
            <a:ext cx="493776" cy="493776"/>
          </a:xfrm>
          <a:prstGeom prst="ellipse">
            <a:avLst/>
          </a:prstGeom>
          <a:solidFill>
            <a:srgbClr val="C99617"/>
          </a:solidFill>
          <a:ln/>
        </p:spPr>
      </p:sp>
      <p:sp>
        <p:nvSpPr>
          <p:cNvPr id="21" name="Text 19"/>
          <p:cNvSpPr/>
          <p:nvPr/>
        </p:nvSpPr>
        <p:spPr>
          <a:xfrm>
            <a:off x="9363456" y="2880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43416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43416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via NABARD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043416" y="397764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roll-out through the RRB/SHG ecosystem, OCEN-integrated scoring API, more languages.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NABARD Hackathon @ GFF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566160"/>
            <a:ext cx="5852160" cy="5852160"/>
          </a:xfrm>
          <a:prstGeom prst="ellipse">
            <a:avLst/>
          </a:prstGeom>
          <a:ln w="12700">
            <a:solidFill>
              <a:srgbClr val="3C4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480560"/>
            <a:ext cx="4023360" cy="4023360"/>
          </a:xfrm>
          <a:prstGeom prst="ellipse">
            <a:avLst/>
          </a:prstGeom>
          <a:ln w="12700">
            <a:solidFill>
              <a:srgbClr val="C9961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2296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8288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cash-flow stress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strikes.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943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DhanDrishti </a:t>
            </a:r>
            <a:pPr indent="0" marL="0">
              <a:buNone/>
            </a:pPr>
            <a:r>
              <a:rPr lang="en-US" sz="1600" dirty="0">
                <a:solidFill>
                  <a:srgbClr val="C9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cash-flow foresight &amp; early warning for rural micro enterprises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«name» — «members &amp; roles»   ·   «email»   ·   «phone»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runs offline on a laptop · synthetic data only · no real enterprise or personal data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DhanDrishti — NABARD Hackathon @ GFF 2026</dc:title>
  <dc:subject>PptxGenJS Presentation</dc:subject>
  <dc:creator>Team DhanDrishti</dc:creator>
  <cp:lastModifiedBy>Team DhanDrishti</cp:lastModifiedBy>
  <cp:revision>1</cp:revision>
  <dcterms:created xsi:type="dcterms:W3CDTF">2026-07-16T16:52:04Z</dcterms:created>
  <dcterms:modified xsi:type="dcterms:W3CDTF">2026-07-16T16:52:04Z</dcterms:modified>
</cp:coreProperties>
</file>